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Introduce yourself and the project: CyberShield is a cybersecurity awareness platform built for small organisations. Mention the student number and University of Gloucestershire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research motivation: 74% of breaches involve people, not just technology. Small organisations face disproportionate risk due to lack of training and resources. This gap is what CyberShield aims to fill.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research aim and six objectives. Emphasise the dual nature: this is both a research project and a system development project. Objectives 1-3 are research; 4-6 are practical.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system has two roles. Employees access training, take a quiz, check passwords, and report incidents. The admin can see all employee progress, their exact quiz answers, reported incidents, and a live cybersecurity news feed. Built on Flask backend with HTML/CSS/JS frontend.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Flask handles authentication and API routes. The frontend is a pure SPA — no framework needed. Threat intelligence is fetched client-side from multiple RSS feeds via a CORS proxy. State is in-memory but designed to be swappable with a real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threat intelligence feed is a standout feature. When an employee reports an incident, they can see live news on the right panel and check if their incident matches a known active threat. Five professional sources feed into the system, all labelled by severity.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research uses a mixed-methods approach. The survey gives us numbers — how many employees know X. The interviews give context — why they behave a certain way. Ethics compliance is central: the form was submitted before any data collection.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project is structured as a 36-hour sprint. The most time-consuming phases are system development (phase 2) and the research write-up (phase 5). Data collection is quick because the system is already built — employees interact with it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Based on existing literature, we expect to find low awareness among non-technical employees. The four deliverables cover both the practical system and the academic research components. Everything ties back to the original research 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up: CyberShield addresses a real gap in small organisation cybersecurity. The system is functional, the research methodology is solid, and all ethics requirements have been met. Questions welcome.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5029200" y="274320"/>
            <a:ext cx="3840480" cy="3840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GLOUCESTERSHIRE  ·  STUDENT: S4545592</a:t>
            </a:r>
            <a:endParaRPr lang="en-US" sz="9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2960"/>
            <a:ext cx="594360" cy="5943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51560" y="77724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CyberShield</a:t>
            </a:r>
            <a:endParaRPr lang="en-US" sz="5200" dirty="0"/>
          </a:p>
        </p:txBody>
      </p:sp>
      <p:sp>
        <p:nvSpPr>
          <p:cNvPr id="6" name="Text 2"/>
          <p:cNvSpPr/>
          <p:nvPr/>
        </p:nvSpPr>
        <p:spPr>
          <a:xfrm>
            <a:off x="365760" y="15087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Awareness Platform for Small Organisations</a:t>
            </a:r>
            <a:endParaRPr lang="en-US" sz="1800" dirty="0"/>
          </a:p>
        </p:txBody>
      </p:sp>
      <p:sp>
        <p:nvSpPr>
          <p:cNvPr id="7" name="Shape 3"/>
          <p:cNvSpPr/>
          <p:nvPr/>
        </p:nvSpPr>
        <p:spPr>
          <a:xfrm>
            <a:off x="365760" y="2084832"/>
            <a:ext cx="41148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65760" y="228600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research project investigating cybersecurity awareness among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and providing an interactive web-based training system.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365760" y="329184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1A2640"/>
          </a:solidFill>
          <a:ln w="12700">
            <a:solidFill>
              <a:srgbClr val="2433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365760" y="34015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400" dirty="0"/>
          </a:p>
        </p:txBody>
      </p:sp>
      <p:sp>
        <p:nvSpPr>
          <p:cNvPr id="11" name="Text 7"/>
          <p:cNvSpPr/>
          <p:nvPr/>
        </p:nvSpPr>
        <p:spPr>
          <a:xfrm>
            <a:off x="365760" y="39136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514600" y="329184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1A2640"/>
          </a:solidFill>
          <a:ln w="12700">
            <a:solidFill>
              <a:srgbClr val="2433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2514600" y="34015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400" dirty="0"/>
          </a:p>
        </p:txBody>
      </p:sp>
      <p:sp>
        <p:nvSpPr>
          <p:cNvPr id="14" name="Text 10"/>
          <p:cNvSpPr/>
          <p:nvPr/>
        </p:nvSpPr>
        <p:spPr>
          <a:xfrm>
            <a:off x="2514600" y="39136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Modules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663440" y="329184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1A2640"/>
          </a:solidFill>
          <a:ln w="12700">
            <a:solidFill>
              <a:srgbClr val="2433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663440" y="34015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400" dirty="0"/>
          </a:p>
        </p:txBody>
      </p:sp>
      <p:sp>
        <p:nvSpPr>
          <p:cNvPr id="17" name="Text 13"/>
          <p:cNvSpPr/>
          <p:nvPr/>
        </p:nvSpPr>
        <p:spPr>
          <a:xfrm>
            <a:off x="4663440" y="39136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Questions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812280" y="329184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1A2640"/>
          </a:solidFill>
          <a:ln w="12700">
            <a:solidFill>
              <a:srgbClr val="2433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812280" y="34015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400" dirty="0"/>
          </a:p>
        </p:txBody>
      </p:sp>
      <p:sp>
        <p:nvSpPr>
          <p:cNvPr id="20" name="Text 16"/>
          <p:cNvSpPr/>
          <p:nvPr/>
        </p:nvSpPr>
        <p:spPr>
          <a:xfrm>
            <a:off x="6812280" y="39136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Cybersecurity Awareness Matters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1A2640"/>
          </a:solidFill>
          <a:ln w="12700">
            <a:solidFill>
              <a:srgbClr val="2433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261872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62763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57200" y="212140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breaches involve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element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0" y="118872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1A2640"/>
          </a:solidFill>
          <a:ln w="12700">
            <a:solidFill>
              <a:srgbClr val="2433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261872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00400" y="162763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3291840" y="212140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UK businesses suffered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cyber attack in 2023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35040" y="118872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1A2640"/>
          </a:solidFill>
          <a:ln w="12700">
            <a:solidFill>
              <a:srgbClr val="2433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261872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035040" y="162763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3000" dirty="0"/>
          </a:p>
        </p:txBody>
      </p:sp>
      <p:sp>
        <p:nvSpPr>
          <p:cNvPr id="15" name="Text 10"/>
          <p:cNvSpPr/>
          <p:nvPr/>
        </p:nvSpPr>
        <p:spPr>
          <a:xfrm>
            <a:off x="6126480" y="212140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remains the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attack type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365760" y="2880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Small Organisations Are Most at Risk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365760" y="324612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1A2640"/>
          </a:solidFill>
          <a:ln w="12700">
            <a:solidFill>
              <a:srgbClr val="2433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3355848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41248" y="332841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dedicated IT security team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663440" y="324612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1A2640"/>
          </a:solidFill>
          <a:ln w="12700">
            <a:solidFill>
              <a:srgbClr val="2433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3355848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138928" y="332841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cybersecurity training or policies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365760" y="3867912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1A2640"/>
          </a:solidFill>
          <a:ln w="12700">
            <a:solidFill>
              <a:srgbClr val="2433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3977640"/>
            <a:ext cx="274320" cy="27432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41248" y="39502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unaware of common attack vectors</a:t>
            </a:r>
            <a:endParaRPr lang="en-US" sz="1200" dirty="0"/>
          </a:p>
        </p:txBody>
      </p:sp>
      <p:sp>
        <p:nvSpPr>
          <p:cNvPr id="26" name="Shape 18"/>
          <p:cNvSpPr/>
          <p:nvPr/>
        </p:nvSpPr>
        <p:spPr>
          <a:xfrm>
            <a:off x="4663440" y="3867912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1A2640"/>
          </a:solidFill>
          <a:ln w="12700">
            <a:solidFill>
              <a:srgbClr val="2433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3168" y="3977640"/>
            <a:ext cx="274320" cy="27432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138928" y="39502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budget for security tools</a:t>
            </a:r>
            <a:endParaRPr lang="en-US" sz="1200" dirty="0"/>
          </a:p>
        </p:txBody>
      </p:sp>
      <p:sp>
        <p:nvSpPr>
          <p:cNvPr id="29" name="Text 20"/>
          <p:cNvSpPr/>
          <p:nvPr/>
        </p:nvSpPr>
        <p:spPr>
          <a:xfrm>
            <a:off x="36576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Verizon DBIR 2023 · UK Govt Cyber Security Breaches Survey 2023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Aims &amp;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0D1E35"/>
          </a:solidFill>
          <a:ln w="25400">
            <a:solidFill>
              <a:srgbClr val="3B82F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6187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188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Aim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97280" y="143560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investigate cybersecurity awareness among employees in a small organisation and develop a practical web-based system to enhance that awareness.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21488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Research Objectives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5760" y="2487168"/>
            <a:ext cx="4114800" cy="658368"/>
          </a:xfrm>
          <a:prstGeom prst="roundRect">
            <a:avLst>
              <a:gd name="adj" fmla="val 9722"/>
            </a:avLst>
          </a:prstGeom>
          <a:solidFill>
            <a:srgbClr val="1A2640"/>
          </a:solidFill>
          <a:ln w="12700">
            <a:solidFill>
              <a:srgbClr val="2433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" y="2651760"/>
            <a:ext cx="310896" cy="3108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5488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77824" y="2560320"/>
            <a:ext cx="3511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a literature review on cybersecurity threats, awareness, and best practices.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63440" y="2487168"/>
            <a:ext cx="4114800" cy="658368"/>
          </a:xfrm>
          <a:prstGeom prst="roundRect">
            <a:avLst>
              <a:gd name="adj" fmla="val 9722"/>
            </a:avLst>
          </a:prstGeom>
          <a:solidFill>
            <a:srgbClr val="1A2640"/>
          </a:solidFill>
          <a:ln w="12700">
            <a:solidFill>
              <a:srgbClr val="2433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73168" y="2651760"/>
            <a:ext cx="310896" cy="3108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73168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175504" y="2560320"/>
            <a:ext cx="3511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administer an employee survey to assess current knowledge levels.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65760" y="3236976"/>
            <a:ext cx="4114800" cy="658368"/>
          </a:xfrm>
          <a:prstGeom prst="roundRect">
            <a:avLst>
              <a:gd name="adj" fmla="val 9722"/>
            </a:avLst>
          </a:prstGeom>
          <a:solidFill>
            <a:srgbClr val="1A2640"/>
          </a:solidFill>
          <a:ln w="12700">
            <a:solidFill>
              <a:srgbClr val="2433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5488" y="3401568"/>
            <a:ext cx="310896" cy="3108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5488" y="3401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77824" y="3310128"/>
            <a:ext cx="3511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semi-structured interviews to explore attitudes and behaviours.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663440" y="3236976"/>
            <a:ext cx="4114800" cy="658368"/>
          </a:xfrm>
          <a:prstGeom prst="roundRect">
            <a:avLst>
              <a:gd name="adj" fmla="val 9722"/>
            </a:avLst>
          </a:prstGeom>
          <a:solidFill>
            <a:srgbClr val="1A2640"/>
          </a:solidFill>
          <a:ln w="12700">
            <a:solidFill>
              <a:srgbClr val="2433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773168" y="3401568"/>
            <a:ext cx="310896" cy="3108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73168" y="3401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175504" y="3310128"/>
            <a:ext cx="3511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CyberShield — a dual-role cybersecurity awareness web application.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65760" y="3986784"/>
            <a:ext cx="4114800" cy="658368"/>
          </a:xfrm>
          <a:prstGeom prst="roundRect">
            <a:avLst>
              <a:gd name="adj" fmla="val 9722"/>
            </a:avLst>
          </a:prstGeom>
          <a:solidFill>
            <a:srgbClr val="1A2640"/>
          </a:solidFill>
          <a:ln w="12700">
            <a:solidFill>
              <a:srgbClr val="2433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75488" y="4151376"/>
            <a:ext cx="310896" cy="3108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5488" y="4151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77824" y="4059936"/>
            <a:ext cx="3511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system effectiveness and produce recommendations.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663440" y="3986784"/>
            <a:ext cx="4114800" cy="658368"/>
          </a:xfrm>
          <a:prstGeom prst="roundRect">
            <a:avLst>
              <a:gd name="adj" fmla="val 9722"/>
            </a:avLst>
          </a:prstGeom>
          <a:solidFill>
            <a:srgbClr val="1A2640"/>
          </a:solidFill>
          <a:ln w="12700">
            <a:solidFill>
              <a:srgbClr val="2433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773168" y="4151376"/>
            <a:ext cx="310896" cy="3108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773168" y="4151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175504" y="4059936"/>
            <a:ext cx="3511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findings in a full academic research report.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CyberShield — System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4241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 · HTML/CSS/JS frontend · 5 user accounts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389888"/>
            <a:ext cx="3931920" cy="3383280"/>
          </a:xfrm>
          <a:prstGeom prst="roundRect">
            <a:avLst>
              <a:gd name="adj" fmla="val 2703"/>
            </a:avLst>
          </a:prstGeom>
          <a:solidFill>
            <a:srgbClr val="1A2640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49961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Dashboard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11480" y="1993392"/>
            <a:ext cx="3657600" cy="594360"/>
          </a:xfrm>
          <a:prstGeom prst="roundRect">
            <a:avLst>
              <a:gd name="adj" fmla="val 9231"/>
            </a:avLst>
          </a:prstGeom>
          <a:solidFill>
            <a:srgbClr val="243354"/>
          </a:solidFill>
          <a:ln w="12700">
            <a:solidFill>
              <a:srgbClr val="475569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39696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204825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914400" y="229514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cybersecurity training modules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11480" y="2697480"/>
            <a:ext cx="3657600" cy="594360"/>
          </a:xfrm>
          <a:prstGeom prst="roundRect">
            <a:avLst>
              <a:gd name="adj" fmla="val 9231"/>
            </a:avLst>
          </a:prstGeom>
          <a:solidFill>
            <a:srgbClr val="243354"/>
          </a:solidFill>
          <a:ln w="12700">
            <a:solidFill>
              <a:srgbClr val="475569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43784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14400" y="275234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914400" y="29992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6-question knowledge assessment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11480" y="3401568"/>
            <a:ext cx="3657600" cy="594360"/>
          </a:xfrm>
          <a:prstGeom prst="roundRect">
            <a:avLst>
              <a:gd name="adj" fmla="val 9231"/>
            </a:avLst>
          </a:prstGeom>
          <a:solidFill>
            <a:srgbClr val="243354"/>
          </a:solidFill>
          <a:ln w="12700">
            <a:solidFill>
              <a:srgbClr val="475569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547872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4400" y="34564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Check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914400" y="37033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strength meter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11480" y="4105656"/>
            <a:ext cx="3657600" cy="594360"/>
          </a:xfrm>
          <a:prstGeom prst="roundRect">
            <a:avLst>
              <a:gd name="adj" fmla="val 9231"/>
            </a:avLst>
          </a:prstGeom>
          <a:solidFill>
            <a:srgbClr val="243354"/>
          </a:solidFill>
          <a:ln w="12700">
            <a:solidFill>
              <a:srgbClr val="475569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251960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14400" y="41605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Incident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914400" y="440740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form + live threat feed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4279392" y="2944368"/>
            <a:ext cx="585216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4279392" y="2816352"/>
            <a:ext cx="5852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19"/>
          <p:cNvSpPr/>
          <p:nvPr/>
        </p:nvSpPr>
        <p:spPr>
          <a:xfrm>
            <a:off x="4937760" y="1389888"/>
            <a:ext cx="3931920" cy="3383280"/>
          </a:xfrm>
          <a:prstGeom prst="roundRect">
            <a:avLst>
              <a:gd name="adj" fmla="val 2703"/>
            </a:avLst>
          </a:prstGeom>
          <a:solidFill>
            <a:srgbClr val="1A2640"/>
          </a:solidFill>
          <a:ln w="254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360" y="1481328"/>
            <a:ext cx="384048" cy="38404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623560" y="149961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400" dirty="0"/>
          </a:p>
        </p:txBody>
      </p:sp>
      <p:sp>
        <p:nvSpPr>
          <p:cNvPr id="29" name="Shape 21"/>
          <p:cNvSpPr/>
          <p:nvPr/>
        </p:nvSpPr>
        <p:spPr>
          <a:xfrm>
            <a:off x="5074920" y="1993392"/>
            <a:ext cx="3657600" cy="475488"/>
          </a:xfrm>
          <a:prstGeom prst="roundRect">
            <a:avLst>
              <a:gd name="adj" fmla="val 11538"/>
            </a:avLst>
          </a:prstGeom>
          <a:solidFill>
            <a:srgbClr val="243354"/>
          </a:solidFill>
          <a:ln w="12700">
            <a:solidFill>
              <a:srgbClr val="475569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2080" y="2093976"/>
            <a:ext cx="256032" cy="25603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559552" y="202996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2" name="Text 23"/>
          <p:cNvSpPr/>
          <p:nvPr/>
        </p:nvSpPr>
        <p:spPr>
          <a:xfrm>
            <a:off x="5559552" y="223113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scores &amp; completion stats</a:t>
            </a:r>
            <a:endParaRPr lang="en-US" sz="950" dirty="0"/>
          </a:p>
        </p:txBody>
      </p:sp>
      <p:sp>
        <p:nvSpPr>
          <p:cNvPr id="33" name="Shape 24"/>
          <p:cNvSpPr/>
          <p:nvPr/>
        </p:nvSpPr>
        <p:spPr>
          <a:xfrm>
            <a:off x="5074920" y="2542032"/>
            <a:ext cx="3657600" cy="475488"/>
          </a:xfrm>
          <a:prstGeom prst="roundRect">
            <a:avLst>
              <a:gd name="adj" fmla="val 11538"/>
            </a:avLst>
          </a:prstGeom>
          <a:solidFill>
            <a:srgbClr val="243354"/>
          </a:solidFill>
          <a:ln w="12700">
            <a:solidFill>
              <a:srgbClr val="475569"/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12080" y="2642616"/>
            <a:ext cx="256032" cy="256032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559552" y="257860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100" dirty="0"/>
          </a:p>
        </p:txBody>
      </p:sp>
      <p:sp>
        <p:nvSpPr>
          <p:cNvPr id="36" name="Text 26"/>
          <p:cNvSpPr/>
          <p:nvPr/>
        </p:nvSpPr>
        <p:spPr>
          <a:xfrm>
            <a:off x="5559552" y="277977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progress per user</a:t>
            </a:r>
            <a:endParaRPr lang="en-US" sz="950" dirty="0"/>
          </a:p>
        </p:txBody>
      </p:sp>
      <p:sp>
        <p:nvSpPr>
          <p:cNvPr id="37" name="Shape 27"/>
          <p:cNvSpPr/>
          <p:nvPr/>
        </p:nvSpPr>
        <p:spPr>
          <a:xfrm>
            <a:off x="5074920" y="3090672"/>
            <a:ext cx="3657600" cy="475488"/>
          </a:xfrm>
          <a:prstGeom prst="roundRect">
            <a:avLst>
              <a:gd name="adj" fmla="val 11538"/>
            </a:avLst>
          </a:prstGeom>
          <a:solidFill>
            <a:srgbClr val="243354"/>
          </a:solidFill>
          <a:ln w="12700">
            <a:solidFill>
              <a:srgbClr val="475569"/>
            </a:solidFill>
            <a:prstDash val="solid"/>
          </a:ln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12080" y="3191256"/>
            <a:ext cx="256032" cy="256032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5559552" y="31272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Answers</a:t>
            </a:r>
            <a:endParaRPr lang="en-US" sz="1100" dirty="0"/>
          </a:p>
        </p:txBody>
      </p:sp>
      <p:sp>
        <p:nvSpPr>
          <p:cNvPr id="40" name="Text 29"/>
          <p:cNvSpPr/>
          <p:nvPr/>
        </p:nvSpPr>
        <p:spPr>
          <a:xfrm>
            <a:off x="5559552" y="332841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answer breakdown per employee</a:t>
            </a:r>
            <a:endParaRPr lang="en-US" sz="950" dirty="0"/>
          </a:p>
        </p:txBody>
      </p:sp>
      <p:sp>
        <p:nvSpPr>
          <p:cNvPr id="41" name="Shape 30"/>
          <p:cNvSpPr/>
          <p:nvPr/>
        </p:nvSpPr>
        <p:spPr>
          <a:xfrm>
            <a:off x="5074920" y="3639312"/>
            <a:ext cx="3657600" cy="475488"/>
          </a:xfrm>
          <a:prstGeom prst="roundRect">
            <a:avLst>
              <a:gd name="adj" fmla="val 11538"/>
            </a:avLst>
          </a:prstGeom>
          <a:solidFill>
            <a:srgbClr val="243354"/>
          </a:solidFill>
          <a:ln w="12700">
            <a:solidFill>
              <a:srgbClr val="475569"/>
            </a:solidFill>
            <a:prstDash val="solid"/>
          </a:ln>
        </p:spPr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12080" y="3739896"/>
            <a:ext cx="256032" cy="256032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5559552" y="367588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</a:t>
            </a:r>
            <a:endParaRPr lang="en-US" sz="1100" dirty="0"/>
          </a:p>
        </p:txBody>
      </p:sp>
      <p:sp>
        <p:nvSpPr>
          <p:cNvPr id="44" name="Text 32"/>
          <p:cNvSpPr/>
          <p:nvPr/>
        </p:nvSpPr>
        <p:spPr>
          <a:xfrm>
            <a:off x="5559552" y="387705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submitted incident reports</a:t>
            </a:r>
            <a:endParaRPr lang="en-US" sz="950" dirty="0"/>
          </a:p>
        </p:txBody>
      </p:sp>
      <p:sp>
        <p:nvSpPr>
          <p:cNvPr id="45" name="Shape 33"/>
          <p:cNvSpPr/>
          <p:nvPr/>
        </p:nvSpPr>
        <p:spPr>
          <a:xfrm>
            <a:off x="5074920" y="4187952"/>
            <a:ext cx="3657600" cy="475488"/>
          </a:xfrm>
          <a:prstGeom prst="roundRect">
            <a:avLst>
              <a:gd name="adj" fmla="val 11538"/>
            </a:avLst>
          </a:prstGeom>
          <a:solidFill>
            <a:srgbClr val="243354"/>
          </a:solidFill>
          <a:ln w="12700">
            <a:solidFill>
              <a:srgbClr val="475569"/>
            </a:solidFill>
            <a:prstDash val="solid"/>
          </a:ln>
        </p:spPr>
      </p:sp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12080" y="4288536"/>
            <a:ext cx="256032" cy="256032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5559552" y="422452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Feed</a:t>
            </a:r>
            <a:endParaRPr lang="en-US" sz="1100" dirty="0"/>
          </a:p>
        </p:txBody>
      </p:sp>
      <p:sp>
        <p:nvSpPr>
          <p:cNvPr id="48" name="Text 35"/>
          <p:cNvSpPr/>
          <p:nvPr/>
        </p:nvSpPr>
        <p:spPr>
          <a:xfrm>
            <a:off x="5559552" y="442569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RSS from CISA, BleepingComputer…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325880"/>
            <a:ext cx="4160520" cy="1691640"/>
          </a:xfrm>
          <a:prstGeom prst="roundRect">
            <a:avLst>
              <a:gd name="adj" fmla="val 4865"/>
            </a:avLst>
          </a:prstGeom>
          <a:solidFill>
            <a:srgbClr val="1A2640"/>
          </a:solidFill>
          <a:ln w="12700">
            <a:solidFill>
              <a:srgbClr val="2433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490472"/>
            <a:ext cx="420624" cy="42062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152704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15087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75488" y="19019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/ CSS3 / JavaScript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75488" y="22219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Page Application (SPA)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75488" y="25420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 — Mobile &amp; Desktop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09160" y="1325880"/>
            <a:ext cx="4160520" cy="1691640"/>
          </a:xfrm>
          <a:prstGeom prst="roundRect">
            <a:avLst>
              <a:gd name="adj" fmla="val 4865"/>
            </a:avLst>
          </a:prstGeom>
          <a:solidFill>
            <a:srgbClr val="1A2640"/>
          </a:solidFill>
          <a:ln w="12700">
            <a:solidFill>
              <a:srgbClr val="2433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1490472"/>
            <a:ext cx="420624" cy="42062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1527048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67528" y="15087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910328" y="19019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Flask Framework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910328" y="22219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(JSON endpoints)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910328" y="25420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Session Authentication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274320" y="3200400"/>
            <a:ext cx="4160520" cy="1691640"/>
          </a:xfrm>
          <a:prstGeom prst="roundRect">
            <a:avLst>
              <a:gd name="adj" fmla="val 4865"/>
            </a:avLst>
          </a:prstGeom>
          <a:solidFill>
            <a:srgbClr val="1A2640"/>
          </a:solidFill>
          <a:ln w="12700">
            <a:solidFill>
              <a:srgbClr val="2433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11480" y="3364992"/>
            <a:ext cx="420624" cy="42062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" y="3401568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32688" y="33832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475488" y="37764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state (per session)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75488" y="40965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state: modules, quiz, incidents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475488" y="44165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Replaceable with SQLite / PostgreSQL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709160" y="3200400"/>
            <a:ext cx="4160520" cy="1691640"/>
          </a:xfrm>
          <a:prstGeom prst="roundRect">
            <a:avLst>
              <a:gd name="adj" fmla="val 4865"/>
            </a:avLst>
          </a:prstGeom>
          <a:solidFill>
            <a:srgbClr val="1A2640"/>
          </a:solidFill>
          <a:ln w="12700">
            <a:solidFill>
              <a:srgbClr val="2433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846320" y="3364992"/>
            <a:ext cx="420624" cy="4206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184" y="3401568"/>
            <a:ext cx="310896" cy="31089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367528" y="33832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4910328" y="37764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RSS via rss2json.com proxy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4910328" y="40965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CISA · Krebs · The Hacker News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4910328" y="44165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BleepingComputer · Schneier on Security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Feature: Threat Intelligence Feed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325880"/>
            <a:ext cx="4114800" cy="3474720"/>
          </a:xfrm>
          <a:prstGeom prst="roundRect">
            <a:avLst>
              <a:gd name="adj" fmla="val 2368"/>
            </a:avLst>
          </a:prstGeom>
          <a:solidFill>
            <a:srgbClr val="1A2640"/>
          </a:solidFill>
          <a:ln w="12700">
            <a:solidFill>
              <a:srgbClr val="2433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84708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" y="1828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live RSS feeds from 5 cybersecurity sources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322576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68096" y="23042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6 stories per page with next/prev navigation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798064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8096" y="27797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Auto-rotates every 30 seconds automatically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3273552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68096" y="32552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each story: CRITICAL · HIGH · MEDIUM · INFO</a:t>
            </a:r>
            <a:endParaRPr lang="en-US" sz="11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3749040"/>
            <a:ext cx="237744" cy="23774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68096" y="3730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Colour-coded severity borders for quick scanning</a:t>
            </a:r>
            <a:endParaRPr lang="en-US" sz="11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" y="4224528"/>
            <a:ext cx="237744" cy="237744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68096" y="4206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directly to original source articles</a:t>
            </a:r>
            <a:endParaRPr lang="en-US" sz="1100" dirty="0"/>
          </a:p>
        </p:txBody>
      </p:sp>
      <p:sp>
        <p:nvSpPr>
          <p:cNvPr id="18" name="Text 10"/>
          <p:cNvSpPr/>
          <p:nvPr/>
        </p:nvSpPr>
        <p:spPr>
          <a:xfrm>
            <a:off x="4663440" y="1371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Threat Intelligence Sources</a:t>
            </a:r>
            <a:endParaRPr lang="en-US" sz="1300" dirty="0"/>
          </a:p>
        </p:txBody>
      </p:sp>
      <p:sp>
        <p:nvSpPr>
          <p:cNvPr id="19" name="Shape 11"/>
          <p:cNvSpPr/>
          <p:nvPr/>
        </p:nvSpPr>
        <p:spPr>
          <a:xfrm>
            <a:off x="4663440" y="1755648"/>
            <a:ext cx="4114800" cy="521208"/>
          </a:xfrm>
          <a:prstGeom prst="roundRect">
            <a:avLst>
              <a:gd name="adj" fmla="val 12281"/>
            </a:avLst>
          </a:prstGeom>
          <a:solidFill>
            <a:srgbClr val="1A2640"/>
          </a:solidFill>
          <a:ln w="12700">
            <a:solidFill>
              <a:srgbClr val="2433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0" name="Shape 12"/>
          <p:cNvSpPr/>
          <p:nvPr/>
        </p:nvSpPr>
        <p:spPr>
          <a:xfrm>
            <a:off x="4791456" y="1874520"/>
            <a:ext cx="274320" cy="2743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3"/>
          <p:cNvSpPr/>
          <p:nvPr/>
        </p:nvSpPr>
        <p:spPr>
          <a:xfrm>
            <a:off x="5166360" y="180136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CISA Alerts</a:t>
            </a:r>
            <a:endParaRPr lang="en-US" sz="1100" dirty="0"/>
          </a:p>
        </p:txBody>
      </p:sp>
      <p:sp>
        <p:nvSpPr>
          <p:cNvPr id="22" name="Text 14"/>
          <p:cNvSpPr/>
          <p:nvPr/>
        </p:nvSpPr>
        <p:spPr>
          <a:xfrm>
            <a:off x="5166360" y="202082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Gov cybersecurity advisories</a:t>
            </a:r>
            <a:endParaRPr lang="en-US" sz="950" dirty="0"/>
          </a:p>
        </p:txBody>
      </p:sp>
      <p:sp>
        <p:nvSpPr>
          <p:cNvPr id="23" name="Shape 15"/>
          <p:cNvSpPr/>
          <p:nvPr/>
        </p:nvSpPr>
        <p:spPr>
          <a:xfrm>
            <a:off x="4663440" y="2350008"/>
            <a:ext cx="4114800" cy="521208"/>
          </a:xfrm>
          <a:prstGeom prst="roundRect">
            <a:avLst>
              <a:gd name="adj" fmla="val 12281"/>
            </a:avLst>
          </a:prstGeom>
          <a:solidFill>
            <a:srgbClr val="1A2640"/>
          </a:solidFill>
          <a:ln w="12700">
            <a:solidFill>
              <a:srgbClr val="2433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4791456" y="2468880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5166360" y="239572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Krebs on Security</a:t>
            </a:r>
            <a:endParaRPr lang="en-US" sz="1100" dirty="0"/>
          </a:p>
        </p:txBody>
      </p:sp>
      <p:sp>
        <p:nvSpPr>
          <p:cNvPr id="26" name="Text 18"/>
          <p:cNvSpPr/>
          <p:nvPr/>
        </p:nvSpPr>
        <p:spPr>
          <a:xfrm>
            <a:off x="5166360" y="261518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 threat investigations</a:t>
            </a:r>
            <a:endParaRPr lang="en-US" sz="950" dirty="0"/>
          </a:p>
        </p:txBody>
      </p:sp>
      <p:sp>
        <p:nvSpPr>
          <p:cNvPr id="27" name="Shape 19"/>
          <p:cNvSpPr/>
          <p:nvPr/>
        </p:nvSpPr>
        <p:spPr>
          <a:xfrm>
            <a:off x="4663440" y="2944368"/>
            <a:ext cx="4114800" cy="521208"/>
          </a:xfrm>
          <a:prstGeom prst="roundRect">
            <a:avLst>
              <a:gd name="adj" fmla="val 12281"/>
            </a:avLst>
          </a:prstGeom>
          <a:solidFill>
            <a:srgbClr val="1A2640"/>
          </a:solidFill>
          <a:ln w="12700">
            <a:solidFill>
              <a:srgbClr val="2433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4791456" y="3063240"/>
            <a:ext cx="274320" cy="2743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5166360" y="299008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Hacker News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5166360" y="320954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infosec news</a:t>
            </a:r>
            <a:endParaRPr lang="en-US" sz="950" dirty="0"/>
          </a:p>
        </p:txBody>
      </p:sp>
      <p:sp>
        <p:nvSpPr>
          <p:cNvPr id="31" name="Shape 23"/>
          <p:cNvSpPr/>
          <p:nvPr/>
        </p:nvSpPr>
        <p:spPr>
          <a:xfrm>
            <a:off x="4663440" y="3538728"/>
            <a:ext cx="4114800" cy="521208"/>
          </a:xfrm>
          <a:prstGeom prst="roundRect">
            <a:avLst>
              <a:gd name="adj" fmla="val 12281"/>
            </a:avLst>
          </a:prstGeom>
          <a:solidFill>
            <a:srgbClr val="1A2640"/>
          </a:solidFill>
          <a:ln w="12700">
            <a:solidFill>
              <a:srgbClr val="2433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4791456" y="3657600"/>
            <a:ext cx="274320" cy="2743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5166360" y="358444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BleepingComputer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5166360" y="380390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&amp; vulnerability reports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4663440" y="4133088"/>
            <a:ext cx="4114800" cy="521208"/>
          </a:xfrm>
          <a:prstGeom prst="roundRect">
            <a:avLst>
              <a:gd name="adj" fmla="val 12281"/>
            </a:avLst>
          </a:prstGeom>
          <a:solidFill>
            <a:srgbClr val="1A2640"/>
          </a:solidFill>
          <a:ln w="12700">
            <a:solidFill>
              <a:srgbClr val="2433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4791456" y="4251960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5166360" y="417880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Schneier on Security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5166360" y="439826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security analysis &amp; opinion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Methodology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8595360" cy="475488"/>
          </a:xfrm>
          <a:prstGeom prst="roundRect">
            <a:avLst>
              <a:gd name="adj" fmla="val 13462"/>
            </a:avLst>
          </a:prstGeom>
          <a:solidFill>
            <a:srgbClr val="0D1E35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34440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Methods Approach  —  Quantitative Survey  +  Qualitative Interviews  +  System Prototype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874520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1A2640"/>
          </a:solidFill>
          <a:ln w="12700">
            <a:solidFill>
              <a:srgbClr val="2433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956816"/>
            <a:ext cx="411480" cy="4114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93392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197510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Survey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38912" y="2487168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20-question anonymous survey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38912" y="3017520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to all employees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38912" y="3547872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knowledge, behaviour, attitudes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38912" y="4078224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 with descriptive statistics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154680" y="1874520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1A2640"/>
          </a:solidFill>
          <a:ln w="12700">
            <a:solidFill>
              <a:srgbClr val="2433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91840" y="1956816"/>
            <a:ext cx="411480" cy="4114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993392"/>
            <a:ext cx="310896" cy="3108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794760" y="197510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Interviews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319272" y="2487168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semi-structured interviews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319272" y="3017520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minutes each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319272" y="3547872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 attitudes in depth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319272" y="4078224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Thematic analysis of responses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035040" y="1874520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1A2640"/>
          </a:solidFill>
          <a:ln w="12700">
            <a:solidFill>
              <a:srgbClr val="2433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172200" y="1956816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993392"/>
            <a:ext cx="310896" cy="31089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675120" y="197510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&amp; Consent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199632" y="2487168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UoG ethics form completed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6199632" y="3017520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consent for interviews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6199632" y="3547872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survey — no PII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6199632" y="4078224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number: s4545592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36-Hour Project Timeline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993392"/>
            <a:ext cx="8412480" cy="54864"/>
          </a:xfrm>
          <a:prstGeom prst="rect">
            <a:avLst/>
          </a:prstGeom>
          <a:solidFill>
            <a:srgbClr val="243354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83664"/>
            <a:ext cx="274320" cy="2743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399032"/>
            <a:ext cx="27432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0624" y="1097280"/>
            <a:ext cx="1280160" cy="804672"/>
          </a:xfrm>
          <a:prstGeom prst="roundRect">
            <a:avLst>
              <a:gd name="adj" fmla="val 7955"/>
            </a:avLst>
          </a:prstGeom>
          <a:solidFill>
            <a:srgbClr val="1A2640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0624" y="11430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0624" y="13350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Setup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0624" y="16459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 hrs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40280" y="1883664"/>
            <a:ext cx="274320" cy="2743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50008" y="2029968"/>
            <a:ext cx="27432" cy="4754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37944" y="2377440"/>
            <a:ext cx="1280160" cy="804672"/>
          </a:xfrm>
          <a:prstGeom prst="roundRect">
            <a:avLst>
              <a:gd name="adj" fmla="val 7955"/>
            </a:avLst>
          </a:prstGeom>
          <a:solidFill>
            <a:srgbClr val="1A2640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837944" y="24231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37944" y="26151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Development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37944" y="29260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2–8 hrs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0" y="1883664"/>
            <a:ext cx="274320" cy="2743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67328" y="1399032"/>
            <a:ext cx="27432" cy="47548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55264" y="1097280"/>
            <a:ext cx="1280160" cy="804672"/>
          </a:xfrm>
          <a:prstGeom prst="roundRect">
            <a:avLst>
              <a:gd name="adj" fmla="val 7955"/>
            </a:avLst>
          </a:prstGeom>
          <a:solidFill>
            <a:srgbClr val="1A2640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55264" y="11430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55264" y="13350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55264" y="16459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8–14 hrs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74920" y="1883664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84648" y="2029968"/>
            <a:ext cx="27432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72584" y="2377440"/>
            <a:ext cx="1280160" cy="804672"/>
          </a:xfrm>
          <a:prstGeom prst="roundRect">
            <a:avLst>
              <a:gd name="adj" fmla="val 7955"/>
            </a:avLst>
          </a:prstGeom>
          <a:solidFill>
            <a:srgbClr val="1A264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72584" y="24231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72584" y="26151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72584" y="29260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14–20 hrs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92240" y="1883664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01968" y="1399032"/>
            <a:ext cx="27432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9904" y="1097280"/>
            <a:ext cx="1280160" cy="804672"/>
          </a:xfrm>
          <a:prstGeom prst="roundRect">
            <a:avLst>
              <a:gd name="adj" fmla="val 7955"/>
            </a:avLst>
          </a:prstGeom>
          <a:solidFill>
            <a:srgbClr val="1A2640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089904" y="11430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089904" y="13350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Write-Up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089904" y="16459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 hrs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909560" y="1883664"/>
            <a:ext cx="274320" cy="2743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19288" y="2029968"/>
            <a:ext cx="27432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07224" y="2377440"/>
            <a:ext cx="1280160" cy="804672"/>
          </a:xfrm>
          <a:prstGeom prst="roundRect">
            <a:avLst>
              <a:gd name="adj" fmla="val 7955"/>
            </a:avLst>
          </a:prstGeom>
          <a:solidFill>
            <a:srgbClr val="1A2640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507224" y="24231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507224" y="26151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Submit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507224" y="29260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30–36 hrs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65760" y="3493008"/>
            <a:ext cx="135331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organisation, obtain permission, ethics submission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783080" y="3493008"/>
            <a:ext cx="135331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CyberShield web application (employee + admin)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200400" y="3493008"/>
            <a:ext cx="135331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 survey, conduct 2–3 interviews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617720" y="3493008"/>
            <a:ext cx="135331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Tabulate results, identify themes from interviews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035040" y="3493008"/>
            <a:ext cx="135331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full research report with findings &amp; recommendations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452360" y="3493008"/>
            <a:ext cx="135331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Proofread, format and finalise all documents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 &amp; Deliverables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1325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Findings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691640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1A2640"/>
          </a:solidFill>
          <a:ln w="12700">
            <a:solidFill>
              <a:srgbClr val="2433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9280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17647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baseline awareness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20208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employees unable to identify phishing indicators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74320" y="2514600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1A2640"/>
          </a:solidFill>
          <a:ln w="12700">
            <a:solidFill>
              <a:srgbClr val="2433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1576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7240" y="25877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password practices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77240" y="28437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use of password managers or complex passwords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274320" y="3337560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1A2640"/>
          </a:solidFill>
          <a:ln w="12700">
            <a:solidFill>
              <a:srgbClr val="2433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538728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77240" y="34107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training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777240" y="36667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structured cybersecurity policies or programmes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274320" y="4160520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1A2640"/>
          </a:solidFill>
          <a:ln w="12700">
            <a:solidFill>
              <a:srgbClr val="2433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4361688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77240" y="42336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system reception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777240" y="44897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engage well with interactive awareness tools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4754880" y="1325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Deliverables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4754880" y="1691640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1A2640"/>
          </a:solidFill>
          <a:ln w="12700">
            <a:solidFill>
              <a:srgbClr val="2433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892040" y="1874520"/>
            <a:ext cx="329184" cy="32918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4892040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321808" y="17647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CyberShield System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321808" y="20208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functional dual-role web application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4754880" y="2514600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1A2640"/>
          </a:solidFill>
          <a:ln w="12700">
            <a:solidFill>
              <a:srgbClr val="2433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892040" y="2697480"/>
            <a:ext cx="329184" cy="32918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4892040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5321808" y="25877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Report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5321808" y="28437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academic report with findings &amp; analysis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4754880" y="3337560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1A2640"/>
          </a:solidFill>
          <a:ln w="12700">
            <a:solidFill>
              <a:srgbClr val="2433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4892040" y="3520440"/>
            <a:ext cx="329184" cy="3291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4892040" y="3520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5321808" y="34107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Data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5321808" y="36667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Anonymised employee survey results &amp; stats</a:t>
            </a:r>
            <a:endParaRPr lang="en-US" sz="1050" dirty="0"/>
          </a:p>
        </p:txBody>
      </p:sp>
      <p:sp>
        <p:nvSpPr>
          <p:cNvPr id="37" name="Shape 31"/>
          <p:cNvSpPr/>
          <p:nvPr/>
        </p:nvSpPr>
        <p:spPr>
          <a:xfrm>
            <a:off x="4754880" y="4160520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1A2640"/>
          </a:solidFill>
          <a:ln w="12700">
            <a:solidFill>
              <a:srgbClr val="2433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4892040" y="4343400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4892040" y="4343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0" name="Text 34"/>
          <p:cNvSpPr/>
          <p:nvPr/>
        </p:nvSpPr>
        <p:spPr>
          <a:xfrm>
            <a:off x="5321808" y="42336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Notes</a:t>
            </a:r>
            <a:endParaRPr lang="en-US" sz="1200" dirty="0"/>
          </a:p>
        </p:txBody>
      </p:sp>
      <p:sp>
        <p:nvSpPr>
          <p:cNvPr id="41" name="Text 35"/>
          <p:cNvSpPr/>
          <p:nvPr/>
        </p:nvSpPr>
        <p:spPr>
          <a:xfrm>
            <a:off x="5321808" y="44897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Thematically coded qualitative data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2926080" y="457200"/>
            <a:ext cx="3291840" cy="3291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029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4" name="Text 1"/>
          <p:cNvSpPr/>
          <p:nvPr/>
        </p:nvSpPr>
        <p:spPr>
          <a:xfrm>
            <a:off x="365760" y="135331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CyberShield — Cybersecurity Awareness Platform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200400" y="1828800"/>
            <a:ext cx="27432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645920" y="2057400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Investigates cybersecurity awareness in small organisations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645920" y="2478024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Builds CyberShield — a dual-role interactive awareness system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645920" y="2898648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Mixed-methods research: survey + interviews + prototype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645920" y="3319272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  Live threat intelligence from 5 professional feeds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645920" y="3739896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Delivers a full academic research report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371600" y="4434840"/>
            <a:ext cx="6400800" cy="502920"/>
          </a:xfrm>
          <a:prstGeom prst="roundRect">
            <a:avLst>
              <a:gd name="adj" fmla="val 12727"/>
            </a:avLst>
          </a:prstGeom>
          <a:solidFill>
            <a:srgbClr val="1A2640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71600" y="44348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s4545592  ·  University of Gloucestershire  ·  MSc / BSc Computing  ·  2025–2026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CyberShield — Cybersecurity Awareness Platform</dc:title>
  <dc:subject>PptxGenJS Presentation</dc:subject>
  <dc:creator>s4545592</dc:creator>
  <cp:lastModifiedBy>s4545592</cp:lastModifiedBy>
  <cp:revision>1</cp:revision>
  <dcterms:created xsi:type="dcterms:W3CDTF">2026-06-23T04:02:13Z</dcterms:created>
  <dcterms:modified xsi:type="dcterms:W3CDTF">2026-06-23T04:02:13Z</dcterms:modified>
</cp:coreProperties>
</file>